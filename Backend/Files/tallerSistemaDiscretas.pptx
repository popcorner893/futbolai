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6" r:id="rId4"/>
    <p:sldId id="257" r:id="rId5"/>
    <p:sldId id="258" r:id="rId6"/>
    <p:sldId id="262" r:id="rId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A49FB-0FC1-FC87-9419-EF82FB916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897846-C932-DAD2-D024-57925AA28A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DB2DB4-050E-8B73-5606-1E1A4D78E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494AF-B81F-47C2-A2C6-48F5D504A9A8}" type="datetimeFigureOut">
              <a:rPr lang="es-MX" smtClean="0"/>
              <a:t>07/11/2024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5377C7-7072-C453-3BBE-AAD575D5A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1AC0B0-1EC5-B2A6-15EE-F4151F24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3AAB-6F58-43EE-9689-42B82CE0287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11635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791BD3-B20D-87ED-4232-91D1FB73E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7A068A-4092-5FE4-C426-8F9457948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DE86FD-E0FF-1CD2-89E3-4116BCFD9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494AF-B81F-47C2-A2C6-48F5D504A9A8}" type="datetimeFigureOut">
              <a:rPr lang="es-MX" smtClean="0"/>
              <a:t>07/11/2024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4BC833-39DB-4EE5-FBFB-47AF485E5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0D04C2-391C-51EF-E0B0-2B7F622E3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3AAB-6F58-43EE-9689-42B82CE0287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10446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AFE0AE-FDC9-DF47-A3F2-F69687379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54E64F5-AA97-237A-6760-BFFD4BF8E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C8D78A-C8BC-26B0-F505-556AE7A81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494AF-B81F-47C2-A2C6-48F5D504A9A8}" type="datetimeFigureOut">
              <a:rPr lang="es-MX" smtClean="0"/>
              <a:t>07/11/2024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1C4B25-AE9D-1F0A-58C1-F2FB79550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362661-8A4A-AF24-BC48-79A321371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3AAB-6F58-43EE-9689-42B82CE0287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66140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EA45E0-B5BA-02B6-25DA-5CA514626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E120D8-8309-2A73-C8F5-CF723B2C5C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FC2E72-24F0-3F0B-9188-3725C8CD1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847C3AA-096D-76B6-3C4C-AB27C0FA4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494AF-B81F-47C2-A2C6-48F5D504A9A8}" type="datetimeFigureOut">
              <a:rPr lang="es-MX" smtClean="0"/>
              <a:t>07/11/2024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AEEDCF-B254-FAC9-B66C-306193ECB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8C3425-A5F6-CF49-DC71-1EADCD6CD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3AAB-6F58-43EE-9689-42B82CE0287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07727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76322A-EF86-BD38-D24B-AE7DCCCBF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081466B-56F6-941D-434E-202A7C4F0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67EAE0-30EA-53B9-A971-B2E268DAB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E364BB0-7601-CF67-EC7B-87D5AA1346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6157D2A-DBAB-A9B5-841E-4EAEB9380E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E63CCCE-09BA-42C6-A348-4513A3FDC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494AF-B81F-47C2-A2C6-48F5D504A9A8}" type="datetimeFigureOut">
              <a:rPr lang="es-MX" smtClean="0"/>
              <a:t>07/11/2024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51F26C3-2DBC-B4A7-12CF-E68FA742C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F137911-1BB1-FFE6-3234-C1F76AFFA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3AAB-6F58-43EE-9689-42B82CE0287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25099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82D967-12AE-8419-8EF9-94BB3CDE7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3D9B485-E07D-D30C-611D-1B008280A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494AF-B81F-47C2-A2C6-48F5D504A9A8}" type="datetimeFigureOut">
              <a:rPr lang="es-MX" smtClean="0"/>
              <a:t>07/11/2024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D170E5C-C04D-11AB-C7A4-D194FDF58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A987E0A-5F01-93FC-7A2F-8F7FEDCD5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3AAB-6F58-43EE-9689-42B82CE0287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21027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78714C0-F1DD-A042-6C7D-FAF2BC26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494AF-B81F-47C2-A2C6-48F5D504A9A8}" type="datetimeFigureOut">
              <a:rPr lang="es-MX" smtClean="0"/>
              <a:t>07/11/2024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94D05E-AEB0-B79A-67B7-4A779470D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A5114D-87C8-97D0-8D61-A1F099546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3AAB-6F58-43EE-9689-42B82CE0287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39053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B2076C-CC6A-EC26-B697-E913FEF54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0F3CC9-E811-F144-5E0E-2DE658457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0A6B49B-0C04-CD38-5EF7-F86CE62415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3273CD6-5B62-6493-1FCC-9624A7AD6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494AF-B81F-47C2-A2C6-48F5D504A9A8}" type="datetimeFigureOut">
              <a:rPr lang="es-MX" smtClean="0"/>
              <a:t>07/11/2024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9233863-242A-E428-B53B-F1751028B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8942FBD-A90A-6E8D-8ED9-926CEC0F4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3AAB-6F58-43EE-9689-42B82CE0287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7517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327961-B2C4-2F5A-5E5A-7E696B134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6BE88E2-C336-E777-F270-F2A63C2C6D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97688B2-145A-2F51-796D-0D6A1EFBA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E6C703D-8AAA-1518-E5A6-EB4B2FAC9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494AF-B81F-47C2-A2C6-48F5D504A9A8}" type="datetimeFigureOut">
              <a:rPr lang="es-MX" smtClean="0"/>
              <a:t>07/11/2024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BA273C7-EB61-956C-E18A-2707E434E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C6D45E3-9BD7-651B-5954-AB3A66C9A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3AAB-6F58-43EE-9689-42B82CE0287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52282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2CD5F6-DA9D-4A05-37C3-B96C63100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B07EBE2-EC14-A98A-9EC5-5F49BE4B1C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DC4FDF-771A-63EE-8E3D-3F6AB5AAC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494AF-B81F-47C2-A2C6-48F5D504A9A8}" type="datetimeFigureOut">
              <a:rPr lang="es-MX" smtClean="0"/>
              <a:t>07/11/2024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9136FE-85B7-B424-5F88-09FD7613A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02B5C3-2D1D-E469-21BC-45D44061B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3AAB-6F58-43EE-9689-42B82CE0287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6420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5C909DA-0D83-03A3-F122-277E9671F6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266FFCE-C7C2-01E8-CA87-41672B9C4B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69E543-8D44-45EA-429E-23021D946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494AF-B81F-47C2-A2C6-48F5D504A9A8}" type="datetimeFigureOut">
              <a:rPr lang="es-MX" smtClean="0"/>
              <a:t>07/11/2024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193321-68B3-4BE1-75C4-93FE23392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339C67-8E79-061A-C9F8-6E52B163B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3AAB-6F58-43EE-9689-42B82CE0287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83525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A046E0E-31D1-4D00-59EC-BEC607CB3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C64E19-0632-F369-03E6-780B1F37F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9713FD-362F-F122-DA59-D1CF9AC242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8494AF-B81F-47C2-A2C6-48F5D504A9A8}" type="datetimeFigureOut">
              <a:rPr lang="es-MX" smtClean="0"/>
              <a:t>07/11/2024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3134CD-D587-5AB2-1CCE-8D56E95C3C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52877E-2A15-CE8A-EA39-F6F30318F0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F83AAB-6F58-43EE-9689-42B82CE0287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65855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E8FA975-637F-6F17-40D9-8212FAD32BB0}"/>
              </a:ext>
            </a:extLst>
          </p:cNvPr>
          <p:cNvSpPr txBox="1"/>
          <p:nvPr/>
        </p:nvSpPr>
        <p:spPr>
          <a:xfrm>
            <a:off x="193751" y="172988"/>
            <a:ext cx="1180449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/>
              <a:t>En promedio se reciben 2 peticiones de acceso a una página web durante un minuto cualquiera. Calcular la probabilidad de que,</a:t>
            </a:r>
          </a:p>
          <a:p>
            <a:pPr marL="342900" indent="-342900" algn="just">
              <a:buAutoNum type="alphaLcPeriod"/>
            </a:pPr>
            <a:r>
              <a:rPr lang="es-MX" dirty="0"/>
              <a:t>En un minuto nadie solicite acceso a la página</a:t>
            </a:r>
          </a:p>
          <a:p>
            <a:pPr marL="342900" indent="-342900" algn="just">
              <a:buAutoNum type="alphaLcPeriod"/>
            </a:pPr>
            <a:r>
              <a:rPr lang="es-MX" dirty="0"/>
              <a:t>En 5 minutos se reciban más de 6 peticiones</a:t>
            </a:r>
          </a:p>
          <a:p>
            <a:pPr marL="342900" indent="-342900" algn="just">
              <a:buAutoNum type="alphaLcPeriod"/>
            </a:pPr>
            <a:r>
              <a:rPr lang="es-MX" dirty="0"/>
              <a:t>Identifique (si es necesario en cada ítem) distribución, rango y parámetros</a:t>
            </a:r>
          </a:p>
          <a:p>
            <a:pPr marL="342900" indent="-342900" algn="just">
              <a:buAutoNum type="alphaLcPeriod"/>
            </a:pPr>
            <a:endParaRPr lang="es-MX" dirty="0"/>
          </a:p>
          <a:p>
            <a:pPr algn="just"/>
            <a:r>
              <a:rPr lang="es-MX" b="1" dirty="0"/>
              <a:t>Distribución Poisson</a:t>
            </a:r>
          </a:p>
          <a:p>
            <a:pPr algn="just"/>
            <a:r>
              <a:rPr lang="es-MX" dirty="0"/>
              <a:t>Lambda = 2 peticiones / minuto</a:t>
            </a:r>
          </a:p>
          <a:p>
            <a:pPr algn="just"/>
            <a:r>
              <a:rPr lang="es-MX" dirty="0"/>
              <a:t>R(X) = [0, …, </a:t>
            </a:r>
            <a:r>
              <a:rPr lang="es-MX" dirty="0" err="1"/>
              <a:t>infty</a:t>
            </a:r>
            <a:r>
              <a:rPr lang="es-MX" dirty="0"/>
              <a:t>]</a:t>
            </a:r>
          </a:p>
          <a:p>
            <a:pPr algn="just"/>
            <a:r>
              <a:rPr lang="es-MX" dirty="0"/>
              <a:t>a.- P(X=0) = 0.1353</a:t>
            </a:r>
          </a:p>
          <a:p>
            <a:pPr algn="just"/>
            <a:r>
              <a:rPr lang="es-MX" dirty="0"/>
              <a:t>b.- L = 10 --- P(X&gt;6) = 0.8699</a:t>
            </a:r>
          </a:p>
          <a:p>
            <a:pPr algn="just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48497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DBB2FFD-E575-4FC8-DEC9-56C96D57B3EA}"/>
              </a:ext>
            </a:extLst>
          </p:cNvPr>
          <p:cNvSpPr txBox="1"/>
          <p:nvPr/>
        </p:nvSpPr>
        <p:spPr>
          <a:xfrm>
            <a:off x="115175" y="172984"/>
            <a:ext cx="119616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/>
              <a:t>Un técnico realiza un test de cien ítems a unos doscientos opositores. Sabiendo que las puntuaciones X obtenidas por los opositores siguen una distribución normal de media 60 puntos y desviación estándar de 10 puntos. Calcular:</a:t>
            </a:r>
          </a:p>
          <a:p>
            <a:pPr marL="342900" indent="-342900" algn="just">
              <a:buAutoNum type="alphaLcPeriod"/>
            </a:pPr>
            <a:r>
              <a:rPr lang="es-MX" dirty="0"/>
              <a:t>P(|X-60|&lt;20)</a:t>
            </a:r>
          </a:p>
          <a:p>
            <a:pPr marL="342900" indent="-342900" algn="just">
              <a:buAutoNum type="alphaLcPeriod"/>
            </a:pPr>
            <a:r>
              <a:rPr lang="es-MX" dirty="0"/>
              <a:t>P(X&gt;70) </a:t>
            </a:r>
          </a:p>
          <a:p>
            <a:pPr marL="342900" indent="-342900" algn="just">
              <a:buAutoNum type="alphaLcPeriod"/>
            </a:pPr>
            <a:r>
              <a:rPr lang="es-MX" dirty="0"/>
              <a:t>Número de opositores que obtuvieron menos de 80 puntos</a:t>
            </a:r>
          </a:p>
          <a:p>
            <a:pPr marL="342900" indent="-342900" algn="just">
              <a:buAutoNum type="alphaLcPeriod"/>
            </a:pPr>
            <a:endParaRPr lang="es-MX" dirty="0"/>
          </a:p>
          <a:p>
            <a:pPr algn="just"/>
            <a:r>
              <a:rPr lang="es-MX" b="1" dirty="0"/>
              <a:t>Normal(60, 10)</a:t>
            </a:r>
          </a:p>
          <a:p>
            <a:pPr algn="just"/>
            <a:r>
              <a:rPr lang="es-MX" dirty="0"/>
              <a:t>a.- P(40&lt;X&lt;80) = 0.9545</a:t>
            </a:r>
          </a:p>
          <a:p>
            <a:pPr algn="just"/>
            <a:r>
              <a:rPr lang="es-MX" dirty="0"/>
              <a:t>b.- P(X&gt;70) = 0.1587</a:t>
            </a:r>
          </a:p>
        </p:txBody>
      </p:sp>
    </p:spTree>
    <p:extLst>
      <p:ext uri="{BB962C8B-B14F-4D97-AF65-F5344CB8AC3E}">
        <p14:creationId xmlns:p14="http://schemas.microsoft.com/office/powerpoint/2010/main" val="3050882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E8FA975-637F-6F17-40D9-8212FAD32BB0}"/>
              </a:ext>
            </a:extLst>
          </p:cNvPr>
          <p:cNvSpPr txBox="1"/>
          <p:nvPr/>
        </p:nvSpPr>
        <p:spPr>
          <a:xfrm>
            <a:off x="174424" y="56311"/>
            <a:ext cx="11383886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s-MX" dirty="0"/>
              <a:t>La probabilidad de que un disco compacto dure al menos un año sin que falle es de 0.95. Calcule la probabilidad </a:t>
            </a:r>
          </a:p>
          <a:p>
            <a:pPr algn="just"/>
            <a:r>
              <a:rPr lang="es-MX" dirty="0"/>
              <a:t>de que, en 15 de estos aparatos elegidos al azar, </a:t>
            </a:r>
          </a:p>
          <a:p>
            <a:pPr marL="342900" indent="-342900" algn="just">
              <a:buAutoNum type="alphaLcPeriod"/>
            </a:pPr>
            <a:r>
              <a:rPr lang="es-MX" dirty="0"/>
              <a:t>12 duren menos de un año</a:t>
            </a:r>
          </a:p>
          <a:p>
            <a:pPr marL="342900" indent="-342900" algn="just">
              <a:buAutoNum type="alphaLcPeriod"/>
            </a:pPr>
            <a:r>
              <a:rPr lang="es-MX" dirty="0"/>
              <a:t>A lo más 5 duren menos de un año</a:t>
            </a:r>
          </a:p>
          <a:p>
            <a:pPr marL="342900" indent="-342900" algn="just">
              <a:buAutoNum type="alphaLcPeriod"/>
            </a:pPr>
            <a:r>
              <a:rPr lang="es-MX" dirty="0"/>
              <a:t>Al menos 2 duren menos de un año</a:t>
            </a:r>
          </a:p>
          <a:p>
            <a:pPr marL="342900" indent="-342900" algn="just">
              <a:buAutoNum type="alphaLcPeriod"/>
            </a:pPr>
            <a:r>
              <a:rPr lang="es-MX" dirty="0"/>
              <a:t>Identifique (si es necesario en cada ítem) distribución, rango y parámetros</a:t>
            </a:r>
          </a:p>
          <a:p>
            <a:pPr marL="342900" indent="-342900" algn="just">
              <a:buAutoNum type="alphaLcPeriod"/>
            </a:pPr>
            <a:endParaRPr lang="es-MX" dirty="0"/>
          </a:p>
          <a:p>
            <a:pPr algn="just"/>
            <a:r>
              <a:rPr lang="es-MX" b="1" dirty="0"/>
              <a:t>Distribución Binomial</a:t>
            </a:r>
          </a:p>
          <a:p>
            <a:pPr algn="just"/>
            <a:r>
              <a:rPr lang="es-MX" dirty="0"/>
              <a:t>Éxito = dure menos de un año</a:t>
            </a:r>
          </a:p>
          <a:p>
            <a:pPr algn="just"/>
            <a:r>
              <a:rPr lang="es-MX" dirty="0"/>
              <a:t>P = 0.05, n = 15</a:t>
            </a:r>
          </a:p>
          <a:p>
            <a:pPr algn="just"/>
            <a:r>
              <a:rPr lang="es-MX" dirty="0"/>
              <a:t>R(X) = {0, …, 15} </a:t>
            </a:r>
          </a:p>
          <a:p>
            <a:pPr algn="just"/>
            <a:r>
              <a:rPr lang="es-MX" dirty="0"/>
              <a:t>a.- P(X = 12) = 0</a:t>
            </a:r>
          </a:p>
          <a:p>
            <a:pPr algn="just"/>
            <a:r>
              <a:rPr lang="es-MX" dirty="0"/>
              <a:t>b.- P(X&gt;5) = 0.999</a:t>
            </a:r>
          </a:p>
          <a:p>
            <a:pPr algn="just"/>
            <a:r>
              <a:rPr lang="es-MX" dirty="0"/>
              <a:t>c.- P(X&gt;=2) = 0.171</a:t>
            </a:r>
          </a:p>
        </p:txBody>
      </p:sp>
    </p:spTree>
    <p:extLst>
      <p:ext uri="{BB962C8B-B14F-4D97-AF65-F5344CB8AC3E}">
        <p14:creationId xmlns:p14="http://schemas.microsoft.com/office/powerpoint/2010/main" val="1298513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8210E8FE-1F4F-5C36-66D8-726FE30D9C99}"/>
              </a:ext>
            </a:extLst>
          </p:cNvPr>
          <p:cNvSpPr txBox="1"/>
          <p:nvPr/>
        </p:nvSpPr>
        <p:spPr>
          <a:xfrm>
            <a:off x="115175" y="172984"/>
            <a:ext cx="119616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El tiempo en minutos que un usuario cualquiera permanece revisando su correo electrónico en un día se distribuye uniformemente. El tiempo medio es 10 minutos y la varianza es 100/3. Calcule:</a:t>
            </a:r>
          </a:p>
          <a:p>
            <a:pPr marL="342900" indent="-342900">
              <a:buAutoNum type="alphaLcPeriod"/>
            </a:pPr>
            <a:r>
              <a:rPr lang="es-MX" dirty="0"/>
              <a:t>El rango y la función de densidad de la distribución</a:t>
            </a:r>
          </a:p>
          <a:p>
            <a:pPr marL="342900" indent="-342900">
              <a:buAutoNum type="alphaLcPeriod"/>
            </a:pPr>
            <a:r>
              <a:rPr lang="es-MX" dirty="0"/>
              <a:t>La probabilidad de que pase más de 8 minutos revisando su correo</a:t>
            </a:r>
          </a:p>
          <a:p>
            <a:pPr marL="342900" indent="-342900">
              <a:buAutoNum type="alphaLcPeriod"/>
            </a:pPr>
            <a:endParaRPr lang="es-MX" dirty="0"/>
          </a:p>
          <a:p>
            <a:r>
              <a:rPr lang="es-MX" b="1" dirty="0"/>
              <a:t>Distribución uniforme</a:t>
            </a:r>
          </a:p>
          <a:p>
            <a:r>
              <a:rPr lang="es-MX" dirty="0"/>
              <a:t>E(X) = a + b / 2 =10     V(X) = (b-a)^2 / 12 = 100/3</a:t>
            </a:r>
          </a:p>
          <a:p>
            <a:r>
              <a:rPr lang="es-MX" dirty="0"/>
              <a:t> </a:t>
            </a:r>
            <a:r>
              <a:rPr lang="es-MX" dirty="0" err="1"/>
              <a:t>a+b</a:t>
            </a:r>
            <a:r>
              <a:rPr lang="es-MX" dirty="0"/>
              <a:t> = 20                          -</a:t>
            </a:r>
            <a:r>
              <a:rPr lang="es-MX" dirty="0" err="1"/>
              <a:t>a+b</a:t>
            </a:r>
            <a:r>
              <a:rPr lang="es-MX" dirty="0"/>
              <a:t> = 20  </a:t>
            </a:r>
          </a:p>
          <a:p>
            <a:r>
              <a:rPr lang="es-MX" dirty="0"/>
              <a:t> b = 20, a = 0  </a:t>
            </a:r>
          </a:p>
          <a:p>
            <a:r>
              <a:rPr lang="es-MX" dirty="0"/>
              <a:t>a.- R(X)</a:t>
            </a:r>
            <a:r>
              <a:rPr lang="es-MX" b="1" dirty="0"/>
              <a:t> </a:t>
            </a:r>
            <a:r>
              <a:rPr lang="es-MX" dirty="0"/>
              <a:t>= {0, …, 20}, f(x) = 0.05</a:t>
            </a:r>
          </a:p>
          <a:p>
            <a:r>
              <a:rPr lang="es-MX" dirty="0"/>
              <a:t>b.- P(X &gt; 8) = 0.6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78351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843B3DB-9ED9-B12E-CE2F-8AD038F34A9F}"/>
              </a:ext>
            </a:extLst>
          </p:cNvPr>
          <p:cNvSpPr txBox="1"/>
          <p:nvPr/>
        </p:nvSpPr>
        <p:spPr>
          <a:xfrm>
            <a:off x="115175" y="0"/>
            <a:ext cx="119616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/>
              <a:t>Un tipo de cámara digital viene en una versión de 3 megapíxeles o una versión de 4 megapíxeles. Una tienda de cámara recibió un envío de 10 de estas cámaras, de las cuales 6 tienen resolución de 3 megapíxeles. Suponga que se seleccionan al azar 5 de estas cámaras para guardarlas detrás del mostrador, las otras 5 se colocan en una bodega. Definimos la variable aleatoria como el número de cámaras de 3 megapíxeles entre las 5 seleccionadas para guardarlas detrás del mostrador. Calcule la probabilidad de que</a:t>
            </a:r>
          </a:p>
          <a:p>
            <a:pPr marL="342900" indent="-342900" algn="just">
              <a:buAutoNum type="alphaLcPeriod"/>
            </a:pPr>
            <a:r>
              <a:rPr lang="es-MX" dirty="0"/>
              <a:t>Haya 2 cámaras de 4 megapíxeles entre las 5 seleccionadas para guardarlas detrás del mostrador</a:t>
            </a:r>
          </a:p>
          <a:p>
            <a:pPr marL="342900" indent="-342900" algn="just">
              <a:buAutoNum type="alphaLcPeriod"/>
            </a:pPr>
            <a:r>
              <a:rPr lang="es-MX" dirty="0"/>
              <a:t>Haya más de dos cámaras de 3 megapíxeles entre las 5 seleccionadas para guardarlas detrás del mostrador</a:t>
            </a:r>
          </a:p>
          <a:p>
            <a:pPr marL="342900" indent="-342900" algn="just">
              <a:buAutoNum type="alphaLcPeriod"/>
            </a:pPr>
            <a:r>
              <a:rPr lang="es-MX" dirty="0"/>
              <a:t>Identifique (si es necesario en cada ítem) distribución, rango y parámetros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03C2508-4A62-D7D9-0270-A4D78CE1DC6B}"/>
              </a:ext>
            </a:extLst>
          </p:cNvPr>
          <p:cNvSpPr/>
          <p:nvPr/>
        </p:nvSpPr>
        <p:spPr>
          <a:xfrm>
            <a:off x="4844188" y="4294270"/>
            <a:ext cx="2886647" cy="18017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D06EE64-2C8D-6474-E868-52247795D5D1}"/>
              </a:ext>
            </a:extLst>
          </p:cNvPr>
          <p:cNvCxnSpPr>
            <a:endCxn id="3" idx="2"/>
          </p:cNvCxnSpPr>
          <p:nvPr/>
        </p:nvCxnSpPr>
        <p:spPr>
          <a:xfrm>
            <a:off x="5533506" y="4294270"/>
            <a:ext cx="754006" cy="18017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A3A4151B-4685-88E3-39A5-3CBA0FD62AB5}"/>
              </a:ext>
            </a:extLst>
          </p:cNvPr>
          <p:cNvSpPr txBox="1"/>
          <p:nvPr/>
        </p:nvSpPr>
        <p:spPr>
          <a:xfrm>
            <a:off x="2326443" y="2331665"/>
            <a:ext cx="903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N = 10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3FCF97A-2AFB-F8F9-EAD3-EB0C1B9D73DA}"/>
              </a:ext>
            </a:extLst>
          </p:cNvPr>
          <p:cNvSpPr txBox="1"/>
          <p:nvPr/>
        </p:nvSpPr>
        <p:spPr>
          <a:xfrm>
            <a:off x="4869534" y="5075952"/>
            <a:ext cx="903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K = 6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2A56EB0-FE96-ED1A-309A-2BE31D755296}"/>
              </a:ext>
            </a:extLst>
          </p:cNvPr>
          <p:cNvSpPr txBox="1"/>
          <p:nvPr/>
        </p:nvSpPr>
        <p:spPr>
          <a:xfrm>
            <a:off x="6295136" y="4438969"/>
            <a:ext cx="1528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N - K = 4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47CE789C-655F-DF1E-4D6B-37FEE5645B7B}"/>
              </a:ext>
            </a:extLst>
          </p:cNvPr>
          <p:cNvSpPr/>
          <p:nvPr/>
        </p:nvSpPr>
        <p:spPr>
          <a:xfrm>
            <a:off x="5626043" y="4643452"/>
            <a:ext cx="554796" cy="42203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CF32881-08E7-0FE1-BFCD-641F870EF438}"/>
              </a:ext>
            </a:extLst>
          </p:cNvPr>
          <p:cNvSpPr txBox="1"/>
          <p:nvPr/>
        </p:nvSpPr>
        <p:spPr>
          <a:xfrm>
            <a:off x="5321459" y="4706620"/>
            <a:ext cx="14340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 n = 5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453B994-E4A8-9CAD-EBE9-7EE9432DFC4E}"/>
              </a:ext>
            </a:extLst>
          </p:cNvPr>
          <p:cNvSpPr txBox="1"/>
          <p:nvPr/>
        </p:nvSpPr>
        <p:spPr>
          <a:xfrm>
            <a:off x="485333" y="4118373"/>
            <a:ext cx="29049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R(X) = {1, …, 5}</a:t>
            </a:r>
          </a:p>
          <a:p>
            <a:r>
              <a:rPr lang="es-MX" dirty="0"/>
              <a:t>a.- P(X = 3) = 0.47619</a:t>
            </a:r>
          </a:p>
          <a:p>
            <a:r>
              <a:rPr lang="es-MX" dirty="0"/>
              <a:t>b.- P(X &gt;2) = 0.7381</a:t>
            </a:r>
          </a:p>
        </p:txBody>
      </p:sp>
    </p:spTree>
    <p:extLst>
      <p:ext uri="{BB962C8B-B14F-4D97-AF65-F5344CB8AC3E}">
        <p14:creationId xmlns:p14="http://schemas.microsoft.com/office/powerpoint/2010/main" val="4139034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B45CD42-08AC-32B3-C13B-435F382E38A8}"/>
              </a:ext>
            </a:extLst>
          </p:cNvPr>
          <p:cNvSpPr txBox="1"/>
          <p:nvPr/>
        </p:nvSpPr>
        <p:spPr>
          <a:xfrm>
            <a:off x="230350" y="256112"/>
            <a:ext cx="1196165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/>
              <a:t>Un individuo lanza un dardo a una diana. La distancia (d) entre el punto central de la diana y el punto obtenido en el lanzamiento del dardo de distribuye como una normal de media 10 y varianza 4. Si el individuo consigue la puntuación máxima cuando la distancia de es menor que 8.  </a:t>
            </a:r>
          </a:p>
          <a:p>
            <a:pPr marL="342900" indent="-342900" algn="just">
              <a:buAutoNum type="alphaLcPeriod"/>
            </a:pPr>
            <a:r>
              <a:rPr lang="es-MX" dirty="0"/>
              <a:t>Calcule la probabilidad de que en 50 lanzamientos obtenga la puntuación máxima al menos 43 veces</a:t>
            </a:r>
          </a:p>
          <a:p>
            <a:pPr marL="342900" indent="-342900" algn="just">
              <a:buAutoNum type="alphaLcPeriod"/>
            </a:pPr>
            <a:r>
              <a:rPr lang="es-MX" dirty="0"/>
              <a:t>Calcular la probabilidad de que obtenga la primera puntuación máxima en el segundo lanzamiento</a:t>
            </a:r>
          </a:p>
          <a:p>
            <a:pPr marL="342900" indent="-342900" algn="just">
              <a:buAutoNum type="alphaLcPeriod"/>
            </a:pPr>
            <a:r>
              <a:rPr lang="es-MX" dirty="0"/>
              <a:t>Calcular la probabilidad de que se necesiten más de 10 lanzamientos para obtener tres puntuaciones máximas</a:t>
            </a:r>
          </a:p>
          <a:p>
            <a:pPr marL="342900" indent="-342900" algn="just">
              <a:buAutoNum type="alphaLcPeriod"/>
            </a:pPr>
            <a:r>
              <a:rPr lang="es-MX" dirty="0"/>
              <a:t>Identifique (si es necesario en cada ítem) distribución, rango y parámetros</a:t>
            </a:r>
          </a:p>
          <a:p>
            <a:pPr marL="342900" indent="-342900" algn="just">
              <a:buAutoNum type="alphaLcPeriod"/>
            </a:pPr>
            <a:endParaRPr lang="es-MX" dirty="0"/>
          </a:p>
          <a:p>
            <a:pPr marL="342900" indent="-342900" algn="just">
              <a:buAutoNum type="alphaLcPeriod"/>
            </a:pPr>
            <a:endParaRPr lang="es-MX" dirty="0"/>
          </a:p>
          <a:p>
            <a:pPr algn="just"/>
            <a:r>
              <a:rPr lang="es-MX" dirty="0"/>
              <a:t>Éxito = puntuación máxima</a:t>
            </a:r>
          </a:p>
          <a:p>
            <a:pPr algn="just"/>
            <a:r>
              <a:rPr lang="es-MX" dirty="0"/>
              <a:t>P = </a:t>
            </a:r>
            <a:r>
              <a:rPr lang="es-MX" dirty="0" smtClean="0"/>
              <a:t>Se calcula con la </a:t>
            </a:r>
            <a:r>
              <a:rPr lang="es-MX" dirty="0" err="1" smtClean="0"/>
              <a:t>noramal</a:t>
            </a:r>
            <a:endParaRPr lang="es-MX" dirty="0"/>
          </a:p>
          <a:p>
            <a:pPr algn="just"/>
            <a:r>
              <a:rPr lang="es-MX" dirty="0"/>
              <a:t>a.- Distribución binomial, n = 50, R(X) = {0, …, 50}, P(X&gt;=43) = </a:t>
            </a:r>
          </a:p>
          <a:p>
            <a:pPr algn="just"/>
            <a:r>
              <a:rPr lang="es-MX" dirty="0"/>
              <a:t>b.- Distribución geométrica, R(X) = {1, …, </a:t>
            </a:r>
            <a:r>
              <a:rPr lang="es-MX" dirty="0" err="1"/>
              <a:t>infty</a:t>
            </a:r>
            <a:r>
              <a:rPr lang="es-MX" dirty="0"/>
              <a:t>}, P(X = 2) = </a:t>
            </a:r>
          </a:p>
          <a:p>
            <a:pPr algn="just"/>
            <a:r>
              <a:rPr lang="es-MX" dirty="0"/>
              <a:t>c.- Distribución binomial negativa, R(X) = {3, …, </a:t>
            </a:r>
            <a:r>
              <a:rPr lang="es-MX" dirty="0" err="1"/>
              <a:t>infty</a:t>
            </a:r>
            <a:r>
              <a:rPr lang="es-MX" dirty="0"/>
              <a:t>}, P(X&gt;10) = </a:t>
            </a:r>
          </a:p>
        </p:txBody>
      </p:sp>
    </p:spTree>
    <p:extLst>
      <p:ext uri="{BB962C8B-B14F-4D97-AF65-F5344CB8AC3E}">
        <p14:creationId xmlns:p14="http://schemas.microsoft.com/office/powerpoint/2010/main" val="13532272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2397</TotalTime>
  <Words>765</Words>
  <Application>Microsoft Office PowerPoint</Application>
  <PresentationFormat>Panorámica</PresentationFormat>
  <Paragraphs>65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Eliana Martha Bonalde Marcano - Cátedra</dc:creator>
  <cp:lastModifiedBy>Eliana Martha Bonalde Marcano - Cátedra</cp:lastModifiedBy>
  <cp:revision>12</cp:revision>
  <dcterms:created xsi:type="dcterms:W3CDTF">2024-04-08T17:39:46Z</dcterms:created>
  <dcterms:modified xsi:type="dcterms:W3CDTF">2024-11-07T13:21:47Z</dcterms:modified>
</cp:coreProperties>
</file>